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6" r:id="rId6"/>
    <p:sldId id="261" r:id="rId7"/>
    <p:sldId id="268" r:id="rId8"/>
    <p:sldId id="269" r:id="rId9"/>
    <p:sldId id="270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74C"/>
    <a:srgbClr val="FFCB0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82"/>
  </p:normalViewPr>
  <p:slideViewPr>
    <p:cSldViewPr snapToGrid="0" snapToObjects="1">
      <p:cViewPr varScale="1">
        <p:scale>
          <a:sx n="77" d="100"/>
          <a:sy n="77" d="100"/>
        </p:scale>
        <p:origin x="58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E74E0B-09CB-44E2-AB28-04C6C113E535}" type="doc">
      <dgm:prSet loTypeId="urn:microsoft.com/office/officeart/2005/8/layout/chevron1" loCatId="process" qsTypeId="urn:microsoft.com/office/officeart/2005/8/quickstyle/simple4" qsCatId="simple" csTypeId="urn:microsoft.com/office/officeart/2005/8/colors/accent0_3" csCatId="mainScheme" phldr="1"/>
      <dgm:spPr/>
    </dgm:pt>
    <dgm:pt modelId="{7CD7F665-08B3-4CCB-BDB4-EAD4CAA73749}">
      <dgm:prSet phldrT="[Text]" custT="1"/>
      <dgm:spPr>
        <a:solidFill>
          <a:srgbClr val="FFCB05"/>
        </a:solidFill>
        <a:effectLst/>
      </dgm:spPr>
      <dgm:t>
        <a:bodyPr/>
        <a:lstStyle/>
        <a:p>
          <a:r>
            <a:rPr lang="en-US" sz="2000" b="1" u="sng" dirty="0">
              <a:solidFill>
                <a:srgbClr val="00274C"/>
              </a:solidFill>
              <a:latin typeface="Montserrat" panose="00000500000000000000" pitchFamily="2" charset="0"/>
            </a:rPr>
            <a:t>D</a:t>
          </a:r>
          <a:r>
            <a:rPr lang="en-US" sz="2000" dirty="0">
              <a:solidFill>
                <a:srgbClr val="00274C"/>
              </a:solidFill>
              <a:latin typeface="Montserrat" panose="00000500000000000000" pitchFamily="2" charset="0"/>
            </a:rPr>
            <a:t>efine</a:t>
          </a:r>
        </a:p>
      </dgm:t>
    </dgm:pt>
    <dgm:pt modelId="{7C117330-36A9-4E16-9517-4FA5186037D1}" type="parTrans" cxnId="{EB8441BE-8B06-4C4D-8015-8006392D3C4D}">
      <dgm:prSet/>
      <dgm:spPr/>
      <dgm:t>
        <a:bodyPr/>
        <a:lstStyle/>
        <a:p>
          <a:endParaRPr lang="en-US" sz="2800">
            <a:latin typeface="Montserrat" panose="00000500000000000000" pitchFamily="2" charset="0"/>
          </a:endParaRPr>
        </a:p>
      </dgm:t>
    </dgm:pt>
    <dgm:pt modelId="{9DC472F4-3BE1-453B-937C-4BB1689DC2EF}" type="sibTrans" cxnId="{EB8441BE-8B06-4C4D-8015-8006392D3C4D}">
      <dgm:prSet/>
      <dgm:spPr/>
      <dgm:t>
        <a:bodyPr/>
        <a:lstStyle/>
        <a:p>
          <a:endParaRPr lang="en-US" sz="2800">
            <a:latin typeface="Montserrat" panose="00000500000000000000" pitchFamily="2" charset="0"/>
          </a:endParaRPr>
        </a:p>
      </dgm:t>
    </dgm:pt>
    <dgm:pt modelId="{DEA71D33-5020-44F0-9537-834E606A8636}">
      <dgm:prSet phldrT="[Text]" custT="1"/>
      <dgm:spPr>
        <a:solidFill>
          <a:srgbClr val="FFCB05"/>
        </a:solidFill>
        <a:effectLst/>
      </dgm:spPr>
      <dgm:t>
        <a:bodyPr/>
        <a:lstStyle/>
        <a:p>
          <a:r>
            <a:rPr lang="en-US" sz="2000" b="1" u="sng" dirty="0">
              <a:solidFill>
                <a:srgbClr val="00274C"/>
              </a:solidFill>
              <a:latin typeface="Montserrat" panose="00000500000000000000" pitchFamily="2" charset="0"/>
            </a:rPr>
            <a:t>M</a:t>
          </a:r>
          <a:r>
            <a:rPr lang="en-US" sz="2000" dirty="0">
              <a:solidFill>
                <a:srgbClr val="00274C"/>
              </a:solidFill>
              <a:latin typeface="Montserrat" panose="00000500000000000000" pitchFamily="2" charset="0"/>
            </a:rPr>
            <a:t>easure</a:t>
          </a:r>
        </a:p>
      </dgm:t>
    </dgm:pt>
    <dgm:pt modelId="{2BE7597D-F578-41DE-B5D1-0C33036CFA53}" type="parTrans" cxnId="{E1A19832-CC9D-4EF7-937A-BE7B2CF771E2}">
      <dgm:prSet/>
      <dgm:spPr/>
      <dgm:t>
        <a:bodyPr/>
        <a:lstStyle/>
        <a:p>
          <a:endParaRPr lang="en-US" sz="2800">
            <a:latin typeface="Montserrat" panose="00000500000000000000" pitchFamily="2" charset="0"/>
          </a:endParaRPr>
        </a:p>
      </dgm:t>
    </dgm:pt>
    <dgm:pt modelId="{9AB4EA5B-F218-4F81-BC7B-3C3BC1021AB6}" type="sibTrans" cxnId="{E1A19832-CC9D-4EF7-937A-BE7B2CF771E2}">
      <dgm:prSet/>
      <dgm:spPr/>
      <dgm:t>
        <a:bodyPr/>
        <a:lstStyle/>
        <a:p>
          <a:endParaRPr lang="en-US" sz="2800">
            <a:latin typeface="Montserrat" panose="00000500000000000000" pitchFamily="2" charset="0"/>
          </a:endParaRPr>
        </a:p>
      </dgm:t>
    </dgm:pt>
    <dgm:pt modelId="{E7306056-F232-4203-BD9F-A7BC3935BEEA}">
      <dgm:prSet phldrT="[Text]" custT="1"/>
      <dgm:spPr>
        <a:solidFill>
          <a:srgbClr val="FFCB05"/>
        </a:solidFill>
        <a:effectLst/>
      </dgm:spPr>
      <dgm:t>
        <a:bodyPr/>
        <a:lstStyle/>
        <a:p>
          <a:r>
            <a:rPr lang="en-US" sz="2000" b="1" u="sng" dirty="0">
              <a:solidFill>
                <a:srgbClr val="00274C"/>
              </a:solidFill>
              <a:latin typeface="Montserrat" panose="00000500000000000000" pitchFamily="2" charset="0"/>
            </a:rPr>
            <a:t>A</a:t>
          </a:r>
          <a:r>
            <a:rPr lang="en-US" sz="2000" dirty="0">
              <a:solidFill>
                <a:srgbClr val="00274C"/>
              </a:solidFill>
              <a:latin typeface="Montserrat" panose="00000500000000000000" pitchFamily="2" charset="0"/>
            </a:rPr>
            <a:t>nalyze</a:t>
          </a:r>
        </a:p>
      </dgm:t>
    </dgm:pt>
    <dgm:pt modelId="{CE8DE766-A33D-4CFC-A465-D2ECA1206CD4}" type="parTrans" cxnId="{702FCBDB-CB1B-49E8-A017-DEED839F89A9}">
      <dgm:prSet/>
      <dgm:spPr/>
      <dgm:t>
        <a:bodyPr/>
        <a:lstStyle/>
        <a:p>
          <a:endParaRPr lang="en-US" sz="2800">
            <a:latin typeface="Montserrat" panose="00000500000000000000" pitchFamily="2" charset="0"/>
          </a:endParaRPr>
        </a:p>
      </dgm:t>
    </dgm:pt>
    <dgm:pt modelId="{F046F9D7-F1E0-45E1-9BD7-6E13A447B675}" type="sibTrans" cxnId="{702FCBDB-CB1B-49E8-A017-DEED839F89A9}">
      <dgm:prSet/>
      <dgm:spPr/>
      <dgm:t>
        <a:bodyPr/>
        <a:lstStyle/>
        <a:p>
          <a:endParaRPr lang="en-US" sz="2800">
            <a:latin typeface="Montserrat" panose="00000500000000000000" pitchFamily="2" charset="0"/>
          </a:endParaRPr>
        </a:p>
      </dgm:t>
    </dgm:pt>
    <dgm:pt modelId="{F5034598-3DFB-40E9-B419-7F39178D3FBA}">
      <dgm:prSet phldrT="[Text]" custT="1"/>
      <dgm:spPr>
        <a:solidFill>
          <a:srgbClr val="FFCB05"/>
        </a:solidFill>
        <a:effectLst/>
      </dgm:spPr>
      <dgm:t>
        <a:bodyPr/>
        <a:lstStyle/>
        <a:p>
          <a:r>
            <a:rPr lang="en-US" sz="2000" b="1" u="sng" dirty="0">
              <a:solidFill>
                <a:srgbClr val="00274C"/>
              </a:solidFill>
              <a:latin typeface="Montserrat" panose="00000500000000000000" pitchFamily="2" charset="0"/>
            </a:rPr>
            <a:t>I</a:t>
          </a:r>
          <a:r>
            <a:rPr lang="en-US" sz="2000" b="0" u="none" dirty="0">
              <a:solidFill>
                <a:srgbClr val="00274C"/>
              </a:solidFill>
              <a:latin typeface="Montserrat" panose="00000500000000000000" pitchFamily="2" charset="0"/>
            </a:rPr>
            <a:t>mprove</a:t>
          </a:r>
        </a:p>
      </dgm:t>
    </dgm:pt>
    <dgm:pt modelId="{013CC97B-5FC6-48DF-B03C-10D77BF9AA6A}" type="parTrans" cxnId="{01C3A3B2-AF41-41A0-AA80-FDEBD000ABB5}">
      <dgm:prSet/>
      <dgm:spPr/>
      <dgm:t>
        <a:bodyPr/>
        <a:lstStyle/>
        <a:p>
          <a:endParaRPr lang="en-US" sz="2800">
            <a:latin typeface="Montserrat" panose="00000500000000000000" pitchFamily="2" charset="0"/>
          </a:endParaRPr>
        </a:p>
      </dgm:t>
    </dgm:pt>
    <dgm:pt modelId="{15D81942-241E-4E04-8EB2-9A881C693824}" type="sibTrans" cxnId="{01C3A3B2-AF41-41A0-AA80-FDEBD000ABB5}">
      <dgm:prSet/>
      <dgm:spPr/>
      <dgm:t>
        <a:bodyPr/>
        <a:lstStyle/>
        <a:p>
          <a:endParaRPr lang="en-US" sz="2800">
            <a:latin typeface="Montserrat" panose="00000500000000000000" pitchFamily="2" charset="0"/>
          </a:endParaRPr>
        </a:p>
      </dgm:t>
    </dgm:pt>
    <dgm:pt modelId="{F0748726-9700-4146-9322-DF4D7FCC3756}">
      <dgm:prSet phldrT="[Text]" custT="1"/>
      <dgm:spPr>
        <a:solidFill>
          <a:srgbClr val="FFCB05"/>
        </a:solidFill>
        <a:effectLst/>
      </dgm:spPr>
      <dgm:t>
        <a:bodyPr/>
        <a:lstStyle/>
        <a:p>
          <a:r>
            <a:rPr lang="en-US" sz="2000" b="1" u="sng" dirty="0">
              <a:solidFill>
                <a:srgbClr val="00274C"/>
              </a:solidFill>
              <a:latin typeface="Montserrat" panose="00000500000000000000" pitchFamily="2" charset="0"/>
            </a:rPr>
            <a:t>C</a:t>
          </a:r>
          <a:r>
            <a:rPr lang="en-US" sz="2000" b="0" u="none" dirty="0">
              <a:solidFill>
                <a:srgbClr val="00274C"/>
              </a:solidFill>
              <a:latin typeface="Montserrat" panose="00000500000000000000" pitchFamily="2" charset="0"/>
            </a:rPr>
            <a:t>ontrol</a:t>
          </a:r>
        </a:p>
      </dgm:t>
    </dgm:pt>
    <dgm:pt modelId="{C668078B-1760-4B91-9145-B8AD4DF3B6C5}" type="parTrans" cxnId="{C7A36E61-D807-42C1-905C-08C43440F133}">
      <dgm:prSet/>
      <dgm:spPr/>
      <dgm:t>
        <a:bodyPr/>
        <a:lstStyle/>
        <a:p>
          <a:endParaRPr lang="en-US" sz="2800">
            <a:latin typeface="Montserrat" panose="00000500000000000000" pitchFamily="2" charset="0"/>
          </a:endParaRPr>
        </a:p>
      </dgm:t>
    </dgm:pt>
    <dgm:pt modelId="{E8793206-8517-4E68-8FBC-48ECA10C1B41}" type="sibTrans" cxnId="{C7A36E61-D807-42C1-905C-08C43440F133}">
      <dgm:prSet/>
      <dgm:spPr/>
      <dgm:t>
        <a:bodyPr/>
        <a:lstStyle/>
        <a:p>
          <a:endParaRPr lang="en-US" sz="2800">
            <a:latin typeface="Montserrat" panose="00000500000000000000" pitchFamily="2" charset="0"/>
          </a:endParaRPr>
        </a:p>
      </dgm:t>
    </dgm:pt>
    <dgm:pt modelId="{AF484326-CFAD-47DA-9B86-C698FB80D4CD}" type="pres">
      <dgm:prSet presAssocID="{FAE74E0B-09CB-44E2-AB28-04C6C113E535}" presName="Name0" presStyleCnt="0">
        <dgm:presLayoutVars>
          <dgm:dir/>
          <dgm:animLvl val="lvl"/>
          <dgm:resizeHandles val="exact"/>
        </dgm:presLayoutVars>
      </dgm:prSet>
      <dgm:spPr/>
    </dgm:pt>
    <dgm:pt modelId="{2FCE6634-339D-41F8-ACF7-F8A93250B505}" type="pres">
      <dgm:prSet presAssocID="{7CD7F665-08B3-4CCB-BDB4-EAD4CAA73749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34694D23-F1A7-46D4-AA05-57537A0F58B1}" type="pres">
      <dgm:prSet presAssocID="{9DC472F4-3BE1-453B-937C-4BB1689DC2EF}" presName="parTxOnlySpace" presStyleCnt="0"/>
      <dgm:spPr/>
    </dgm:pt>
    <dgm:pt modelId="{7389BBC3-E302-4971-8260-11498E02DB07}" type="pres">
      <dgm:prSet presAssocID="{DEA71D33-5020-44F0-9537-834E606A8636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0FC3A28A-C803-4C5F-93D0-A0F9D1F1570C}" type="pres">
      <dgm:prSet presAssocID="{9AB4EA5B-F218-4F81-BC7B-3C3BC1021AB6}" presName="parTxOnlySpace" presStyleCnt="0"/>
      <dgm:spPr/>
    </dgm:pt>
    <dgm:pt modelId="{55B32BE3-FB12-45BC-8C4D-5975AD8C35B8}" type="pres">
      <dgm:prSet presAssocID="{E7306056-F232-4203-BD9F-A7BC3935BEEA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3ADE5722-8973-49ED-85D0-9260BF3655FF}" type="pres">
      <dgm:prSet presAssocID="{F046F9D7-F1E0-45E1-9BD7-6E13A447B675}" presName="parTxOnlySpace" presStyleCnt="0"/>
      <dgm:spPr/>
    </dgm:pt>
    <dgm:pt modelId="{6F2AD48D-940C-4AEB-80A9-02423AA11328}" type="pres">
      <dgm:prSet presAssocID="{F5034598-3DFB-40E9-B419-7F39178D3FB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B29F7B0-DE6B-40ED-BEBE-898B39CB5B1D}" type="pres">
      <dgm:prSet presAssocID="{15D81942-241E-4E04-8EB2-9A881C693824}" presName="parTxOnlySpace" presStyleCnt="0"/>
      <dgm:spPr/>
    </dgm:pt>
    <dgm:pt modelId="{E7277EE7-4D2A-4758-8456-ECA1CD9A370B}" type="pres">
      <dgm:prSet presAssocID="{F0748726-9700-4146-9322-DF4D7FCC3756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A4821B10-1A2A-4F32-BB77-71BDCBE733B7}" type="presOf" srcId="{F0748726-9700-4146-9322-DF4D7FCC3756}" destId="{E7277EE7-4D2A-4758-8456-ECA1CD9A370B}" srcOrd="0" destOrd="0" presId="urn:microsoft.com/office/officeart/2005/8/layout/chevron1"/>
    <dgm:cxn modelId="{E50E4A19-77BA-4EDA-A3C9-F84EB9181E32}" type="presOf" srcId="{DEA71D33-5020-44F0-9537-834E606A8636}" destId="{7389BBC3-E302-4971-8260-11498E02DB07}" srcOrd="0" destOrd="0" presId="urn:microsoft.com/office/officeart/2005/8/layout/chevron1"/>
    <dgm:cxn modelId="{E1A19832-CC9D-4EF7-937A-BE7B2CF771E2}" srcId="{FAE74E0B-09CB-44E2-AB28-04C6C113E535}" destId="{DEA71D33-5020-44F0-9537-834E606A8636}" srcOrd="1" destOrd="0" parTransId="{2BE7597D-F578-41DE-B5D1-0C33036CFA53}" sibTransId="{9AB4EA5B-F218-4F81-BC7B-3C3BC1021AB6}"/>
    <dgm:cxn modelId="{5D0C4141-3AD0-4146-A1C0-FA5E68BA9BEB}" type="presOf" srcId="{FAE74E0B-09CB-44E2-AB28-04C6C113E535}" destId="{AF484326-CFAD-47DA-9B86-C698FB80D4CD}" srcOrd="0" destOrd="0" presId="urn:microsoft.com/office/officeart/2005/8/layout/chevron1"/>
    <dgm:cxn modelId="{C7A36E61-D807-42C1-905C-08C43440F133}" srcId="{FAE74E0B-09CB-44E2-AB28-04C6C113E535}" destId="{F0748726-9700-4146-9322-DF4D7FCC3756}" srcOrd="4" destOrd="0" parTransId="{C668078B-1760-4B91-9145-B8AD4DF3B6C5}" sibTransId="{E8793206-8517-4E68-8FBC-48ECA10C1B41}"/>
    <dgm:cxn modelId="{01C3A3B2-AF41-41A0-AA80-FDEBD000ABB5}" srcId="{FAE74E0B-09CB-44E2-AB28-04C6C113E535}" destId="{F5034598-3DFB-40E9-B419-7F39178D3FBA}" srcOrd="3" destOrd="0" parTransId="{013CC97B-5FC6-48DF-B03C-10D77BF9AA6A}" sibTransId="{15D81942-241E-4E04-8EB2-9A881C693824}"/>
    <dgm:cxn modelId="{887611BB-92F1-48C2-9F28-FEE38BD83F8F}" type="presOf" srcId="{7CD7F665-08B3-4CCB-BDB4-EAD4CAA73749}" destId="{2FCE6634-339D-41F8-ACF7-F8A93250B505}" srcOrd="0" destOrd="0" presId="urn:microsoft.com/office/officeart/2005/8/layout/chevron1"/>
    <dgm:cxn modelId="{5C2DCBBB-F92A-4E08-96BF-1252049046E6}" type="presOf" srcId="{F5034598-3DFB-40E9-B419-7F39178D3FBA}" destId="{6F2AD48D-940C-4AEB-80A9-02423AA11328}" srcOrd="0" destOrd="0" presId="urn:microsoft.com/office/officeart/2005/8/layout/chevron1"/>
    <dgm:cxn modelId="{EB8441BE-8B06-4C4D-8015-8006392D3C4D}" srcId="{FAE74E0B-09CB-44E2-AB28-04C6C113E535}" destId="{7CD7F665-08B3-4CCB-BDB4-EAD4CAA73749}" srcOrd="0" destOrd="0" parTransId="{7C117330-36A9-4E16-9517-4FA5186037D1}" sibTransId="{9DC472F4-3BE1-453B-937C-4BB1689DC2EF}"/>
    <dgm:cxn modelId="{702FCBDB-CB1B-49E8-A017-DEED839F89A9}" srcId="{FAE74E0B-09CB-44E2-AB28-04C6C113E535}" destId="{E7306056-F232-4203-BD9F-A7BC3935BEEA}" srcOrd="2" destOrd="0" parTransId="{CE8DE766-A33D-4CFC-A465-D2ECA1206CD4}" sibTransId="{F046F9D7-F1E0-45E1-9BD7-6E13A447B675}"/>
    <dgm:cxn modelId="{F9E371FF-542E-4AB2-BC00-2F34C0BA8A88}" type="presOf" srcId="{E7306056-F232-4203-BD9F-A7BC3935BEEA}" destId="{55B32BE3-FB12-45BC-8C4D-5975AD8C35B8}" srcOrd="0" destOrd="0" presId="urn:microsoft.com/office/officeart/2005/8/layout/chevron1"/>
    <dgm:cxn modelId="{A942CBFB-D613-48C0-A7D6-BE5ACE1CFD56}" type="presParOf" srcId="{AF484326-CFAD-47DA-9B86-C698FB80D4CD}" destId="{2FCE6634-339D-41F8-ACF7-F8A93250B505}" srcOrd="0" destOrd="0" presId="urn:microsoft.com/office/officeart/2005/8/layout/chevron1"/>
    <dgm:cxn modelId="{6A05260E-F932-4061-AACB-8B3951137E5E}" type="presParOf" srcId="{AF484326-CFAD-47DA-9B86-C698FB80D4CD}" destId="{34694D23-F1A7-46D4-AA05-57537A0F58B1}" srcOrd="1" destOrd="0" presId="urn:microsoft.com/office/officeart/2005/8/layout/chevron1"/>
    <dgm:cxn modelId="{DAC5DF22-4B67-4F04-A454-60CB80794F87}" type="presParOf" srcId="{AF484326-CFAD-47DA-9B86-C698FB80D4CD}" destId="{7389BBC3-E302-4971-8260-11498E02DB07}" srcOrd="2" destOrd="0" presId="urn:microsoft.com/office/officeart/2005/8/layout/chevron1"/>
    <dgm:cxn modelId="{9AF9ECDD-9866-49E8-A55C-9D4D36AF4C1E}" type="presParOf" srcId="{AF484326-CFAD-47DA-9B86-C698FB80D4CD}" destId="{0FC3A28A-C803-4C5F-93D0-A0F9D1F1570C}" srcOrd="3" destOrd="0" presId="urn:microsoft.com/office/officeart/2005/8/layout/chevron1"/>
    <dgm:cxn modelId="{A0121B9D-0C26-4956-85C1-D2ECFF77FA7F}" type="presParOf" srcId="{AF484326-CFAD-47DA-9B86-C698FB80D4CD}" destId="{55B32BE3-FB12-45BC-8C4D-5975AD8C35B8}" srcOrd="4" destOrd="0" presId="urn:microsoft.com/office/officeart/2005/8/layout/chevron1"/>
    <dgm:cxn modelId="{9AB6E611-4554-435F-B24A-6A09FE8C048F}" type="presParOf" srcId="{AF484326-CFAD-47DA-9B86-C698FB80D4CD}" destId="{3ADE5722-8973-49ED-85D0-9260BF3655FF}" srcOrd="5" destOrd="0" presId="urn:microsoft.com/office/officeart/2005/8/layout/chevron1"/>
    <dgm:cxn modelId="{0F1F933C-6979-4B7C-B4AE-15ED17BFCBC1}" type="presParOf" srcId="{AF484326-CFAD-47DA-9B86-C698FB80D4CD}" destId="{6F2AD48D-940C-4AEB-80A9-02423AA11328}" srcOrd="6" destOrd="0" presId="urn:microsoft.com/office/officeart/2005/8/layout/chevron1"/>
    <dgm:cxn modelId="{16B55F2D-7A10-4978-A13C-9CE0D4B6CBC9}" type="presParOf" srcId="{AF484326-CFAD-47DA-9B86-C698FB80D4CD}" destId="{FB29F7B0-DE6B-40ED-BEBE-898B39CB5B1D}" srcOrd="7" destOrd="0" presId="urn:microsoft.com/office/officeart/2005/8/layout/chevron1"/>
    <dgm:cxn modelId="{6781F660-47D0-4BAE-BE75-D2E7A417827E}" type="presParOf" srcId="{AF484326-CFAD-47DA-9B86-C698FB80D4CD}" destId="{E7277EE7-4D2A-4758-8456-ECA1CD9A370B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CE6634-339D-41F8-ACF7-F8A93250B505}">
      <dsp:nvSpPr>
        <dsp:cNvPr id="0" name=""/>
        <dsp:cNvSpPr/>
      </dsp:nvSpPr>
      <dsp:spPr>
        <a:xfrm>
          <a:off x="2264" y="115268"/>
          <a:ext cx="2015251" cy="806100"/>
        </a:xfrm>
        <a:prstGeom prst="chevron">
          <a:avLst/>
        </a:prstGeom>
        <a:solidFill>
          <a:srgbClr val="FFCB05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>
              <a:solidFill>
                <a:srgbClr val="00274C"/>
              </a:solidFill>
              <a:latin typeface="Montserrat" panose="00000500000000000000" pitchFamily="2" charset="0"/>
            </a:rPr>
            <a:t>D</a:t>
          </a:r>
          <a:r>
            <a:rPr lang="en-US" sz="2000" kern="1200" dirty="0">
              <a:solidFill>
                <a:srgbClr val="00274C"/>
              </a:solidFill>
              <a:latin typeface="Montserrat" panose="00000500000000000000" pitchFamily="2" charset="0"/>
            </a:rPr>
            <a:t>efine</a:t>
          </a:r>
        </a:p>
      </dsp:txBody>
      <dsp:txXfrm>
        <a:off x="405314" y="115268"/>
        <a:ext cx="1209151" cy="806100"/>
      </dsp:txXfrm>
    </dsp:sp>
    <dsp:sp modelId="{7389BBC3-E302-4971-8260-11498E02DB07}">
      <dsp:nvSpPr>
        <dsp:cNvPr id="0" name=""/>
        <dsp:cNvSpPr/>
      </dsp:nvSpPr>
      <dsp:spPr>
        <a:xfrm>
          <a:off x="1815990" y="115268"/>
          <a:ext cx="2015251" cy="806100"/>
        </a:xfrm>
        <a:prstGeom prst="chevron">
          <a:avLst/>
        </a:prstGeom>
        <a:solidFill>
          <a:srgbClr val="FFCB05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>
              <a:solidFill>
                <a:srgbClr val="00274C"/>
              </a:solidFill>
              <a:latin typeface="Montserrat" panose="00000500000000000000" pitchFamily="2" charset="0"/>
            </a:rPr>
            <a:t>M</a:t>
          </a:r>
          <a:r>
            <a:rPr lang="en-US" sz="2000" kern="1200" dirty="0">
              <a:solidFill>
                <a:srgbClr val="00274C"/>
              </a:solidFill>
              <a:latin typeface="Montserrat" panose="00000500000000000000" pitchFamily="2" charset="0"/>
            </a:rPr>
            <a:t>easure</a:t>
          </a:r>
        </a:p>
      </dsp:txBody>
      <dsp:txXfrm>
        <a:off x="2219040" y="115268"/>
        <a:ext cx="1209151" cy="806100"/>
      </dsp:txXfrm>
    </dsp:sp>
    <dsp:sp modelId="{55B32BE3-FB12-45BC-8C4D-5975AD8C35B8}">
      <dsp:nvSpPr>
        <dsp:cNvPr id="0" name=""/>
        <dsp:cNvSpPr/>
      </dsp:nvSpPr>
      <dsp:spPr>
        <a:xfrm>
          <a:off x="3629717" y="115268"/>
          <a:ext cx="2015251" cy="806100"/>
        </a:xfrm>
        <a:prstGeom prst="chevron">
          <a:avLst/>
        </a:prstGeom>
        <a:solidFill>
          <a:srgbClr val="FFCB05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>
              <a:solidFill>
                <a:srgbClr val="00274C"/>
              </a:solidFill>
              <a:latin typeface="Montserrat" panose="00000500000000000000" pitchFamily="2" charset="0"/>
            </a:rPr>
            <a:t>A</a:t>
          </a:r>
          <a:r>
            <a:rPr lang="en-US" sz="2000" kern="1200" dirty="0">
              <a:solidFill>
                <a:srgbClr val="00274C"/>
              </a:solidFill>
              <a:latin typeface="Montserrat" panose="00000500000000000000" pitchFamily="2" charset="0"/>
            </a:rPr>
            <a:t>nalyze</a:t>
          </a:r>
        </a:p>
      </dsp:txBody>
      <dsp:txXfrm>
        <a:off x="4032767" y="115268"/>
        <a:ext cx="1209151" cy="806100"/>
      </dsp:txXfrm>
    </dsp:sp>
    <dsp:sp modelId="{6F2AD48D-940C-4AEB-80A9-02423AA11328}">
      <dsp:nvSpPr>
        <dsp:cNvPr id="0" name=""/>
        <dsp:cNvSpPr/>
      </dsp:nvSpPr>
      <dsp:spPr>
        <a:xfrm>
          <a:off x="5443444" y="115268"/>
          <a:ext cx="2015251" cy="806100"/>
        </a:xfrm>
        <a:prstGeom prst="chevron">
          <a:avLst/>
        </a:prstGeom>
        <a:solidFill>
          <a:srgbClr val="FFCB05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>
              <a:solidFill>
                <a:srgbClr val="00274C"/>
              </a:solidFill>
              <a:latin typeface="Montserrat" panose="00000500000000000000" pitchFamily="2" charset="0"/>
            </a:rPr>
            <a:t>I</a:t>
          </a:r>
          <a:r>
            <a:rPr lang="en-US" sz="2000" b="0" u="none" kern="1200" dirty="0">
              <a:solidFill>
                <a:srgbClr val="00274C"/>
              </a:solidFill>
              <a:latin typeface="Montserrat" panose="00000500000000000000" pitchFamily="2" charset="0"/>
            </a:rPr>
            <a:t>mprove</a:t>
          </a:r>
        </a:p>
      </dsp:txBody>
      <dsp:txXfrm>
        <a:off x="5846494" y="115268"/>
        <a:ext cx="1209151" cy="806100"/>
      </dsp:txXfrm>
    </dsp:sp>
    <dsp:sp modelId="{E7277EE7-4D2A-4758-8456-ECA1CD9A370B}">
      <dsp:nvSpPr>
        <dsp:cNvPr id="0" name=""/>
        <dsp:cNvSpPr/>
      </dsp:nvSpPr>
      <dsp:spPr>
        <a:xfrm>
          <a:off x="7257170" y="115268"/>
          <a:ext cx="2015251" cy="806100"/>
        </a:xfrm>
        <a:prstGeom prst="chevron">
          <a:avLst/>
        </a:prstGeom>
        <a:solidFill>
          <a:srgbClr val="FFCB05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>
              <a:solidFill>
                <a:srgbClr val="00274C"/>
              </a:solidFill>
              <a:latin typeface="Montserrat" panose="00000500000000000000" pitchFamily="2" charset="0"/>
            </a:rPr>
            <a:t>C</a:t>
          </a:r>
          <a:r>
            <a:rPr lang="en-US" sz="2000" b="0" u="none" kern="1200" dirty="0">
              <a:solidFill>
                <a:srgbClr val="00274C"/>
              </a:solidFill>
              <a:latin typeface="Montserrat" panose="00000500000000000000" pitchFamily="2" charset="0"/>
            </a:rPr>
            <a:t>ontrol</a:t>
          </a:r>
        </a:p>
      </dsp:txBody>
      <dsp:txXfrm>
        <a:off x="7660220" y="115268"/>
        <a:ext cx="1209151" cy="8061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8099D-77F7-7A4A-B664-937B8FA0F9B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2ED06D-CC63-174D-98C4-8C39091C5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932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27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e background with yellow letter m and white text&#10;&#10;Description automatically generated">
            <a:extLst>
              <a:ext uri="{FF2B5EF4-FFF2-40B4-BE49-F238E27FC236}">
                <a16:creationId xmlns:a16="http://schemas.microsoft.com/office/drawing/2014/main" id="{B64C9FD7-0C4D-E867-5EA9-D78894F800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895" r="7895"/>
          <a:stretch/>
        </p:blipFill>
        <p:spPr>
          <a:xfrm>
            <a:off x="10653097" y="5448697"/>
            <a:ext cx="1236369" cy="1273806"/>
          </a:xfrm>
          <a:prstGeom prst="rect">
            <a:avLst/>
          </a:prstGeom>
        </p:spPr>
      </p:pic>
      <p:cxnSp>
        <p:nvCxnSpPr>
          <p:cNvPr id="4" name="Google Shape;33;p4">
            <a:extLst>
              <a:ext uri="{FF2B5EF4-FFF2-40B4-BE49-F238E27FC236}">
                <a16:creationId xmlns:a16="http://schemas.microsoft.com/office/drawing/2014/main" id="{2BE725A6-8CBF-3185-8C09-0EB44E1AECCF}"/>
              </a:ext>
            </a:extLst>
          </p:cNvPr>
          <p:cNvCxnSpPr/>
          <p:nvPr userDrawn="1"/>
        </p:nvCxnSpPr>
        <p:spPr>
          <a:xfrm>
            <a:off x="11050400" y="693733"/>
            <a:ext cx="0" cy="4151600"/>
          </a:xfrm>
          <a:prstGeom prst="straightConnector1">
            <a:avLst/>
          </a:prstGeom>
          <a:noFill/>
          <a:ln w="9525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Google Shape;34;p4">
            <a:extLst>
              <a:ext uri="{FF2B5EF4-FFF2-40B4-BE49-F238E27FC236}">
                <a16:creationId xmlns:a16="http://schemas.microsoft.com/office/drawing/2014/main" id="{513DC800-341E-FEE6-4D3A-7B7F3788E2DC}"/>
              </a:ext>
            </a:extLst>
          </p:cNvPr>
          <p:cNvCxnSpPr/>
          <p:nvPr userDrawn="1"/>
        </p:nvCxnSpPr>
        <p:spPr>
          <a:xfrm rot="10800000">
            <a:off x="821333" y="1922800"/>
            <a:ext cx="0" cy="4162800"/>
          </a:xfrm>
          <a:prstGeom prst="straightConnector1">
            <a:avLst/>
          </a:prstGeom>
          <a:noFill/>
          <a:ln w="9525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35;p4">
            <a:extLst>
              <a:ext uri="{FF2B5EF4-FFF2-40B4-BE49-F238E27FC236}">
                <a16:creationId xmlns:a16="http://schemas.microsoft.com/office/drawing/2014/main" id="{CF6C561F-CCE9-C86A-B9AC-35A4F121F8AC}"/>
              </a:ext>
            </a:extLst>
          </p:cNvPr>
          <p:cNvCxnSpPr/>
          <p:nvPr userDrawn="1"/>
        </p:nvCxnSpPr>
        <p:spPr>
          <a:xfrm rot="10800000">
            <a:off x="821333" y="6085599"/>
            <a:ext cx="5571600" cy="8400"/>
          </a:xfrm>
          <a:prstGeom prst="straightConnector1">
            <a:avLst/>
          </a:prstGeom>
          <a:noFill/>
          <a:ln w="9525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36;p4">
            <a:extLst>
              <a:ext uri="{FF2B5EF4-FFF2-40B4-BE49-F238E27FC236}">
                <a16:creationId xmlns:a16="http://schemas.microsoft.com/office/drawing/2014/main" id="{D5CF0E93-40B5-C3A1-5C3E-8FABA071CF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7533" y="2489733"/>
            <a:ext cx="9632400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667" b="1">
                <a:solidFill>
                  <a:schemeClr val="bg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" name="Google Shape;37;p4">
            <a:extLst>
              <a:ext uri="{FF2B5EF4-FFF2-40B4-BE49-F238E27FC236}">
                <a16:creationId xmlns:a16="http://schemas.microsoft.com/office/drawing/2014/main" id="{918A61D9-0E18-911A-7F78-728D3EB2AB0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95200" y="3547333"/>
            <a:ext cx="9654800" cy="8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400"/>
              <a:buFont typeface="Roboto"/>
              <a:buNone/>
              <a:defRPr sz="3200" b="1">
                <a:solidFill>
                  <a:srgbClr val="F1C23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0" name="Google Shape;38;p4">
            <a:extLst>
              <a:ext uri="{FF2B5EF4-FFF2-40B4-BE49-F238E27FC236}">
                <a16:creationId xmlns:a16="http://schemas.microsoft.com/office/drawing/2014/main" id="{081E99E0-D0CF-FDEE-92C9-59BD8CE57614}"/>
              </a:ext>
            </a:extLst>
          </p:cNvPr>
          <p:cNvCxnSpPr/>
          <p:nvPr userDrawn="1"/>
        </p:nvCxnSpPr>
        <p:spPr>
          <a:xfrm rot="10800000" flipH="1">
            <a:off x="5639333" y="682633"/>
            <a:ext cx="5411200" cy="29600"/>
          </a:xfrm>
          <a:prstGeom prst="straightConnector1">
            <a:avLst/>
          </a:prstGeom>
          <a:noFill/>
          <a:ln w="9525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4226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-128588" y="-114300"/>
            <a:ext cx="12430126" cy="1257300"/>
          </a:xfrm>
          <a:prstGeom prst="rect">
            <a:avLst/>
          </a:prstGeom>
          <a:solidFill>
            <a:srgbClr val="0027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75" y="1337521"/>
            <a:ext cx="11387138" cy="52629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 descr="A blue background with yellow letter m and white text&#10;&#10;Description automatically generated">
            <a:extLst>
              <a:ext uri="{FF2B5EF4-FFF2-40B4-BE49-F238E27FC236}">
                <a16:creationId xmlns:a16="http://schemas.microsoft.com/office/drawing/2014/main" id="{5C9FC768-64F5-A999-3F3D-AC38865A4A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895" t="9023" r="7895" b="6047"/>
          <a:stretch/>
        </p:blipFill>
        <p:spPr>
          <a:xfrm>
            <a:off x="10653097" y="0"/>
            <a:ext cx="1236369" cy="10818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10" y="157164"/>
            <a:ext cx="10515600" cy="8429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6759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2888" y="1385890"/>
            <a:ext cx="5514976" cy="51292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5038" y="1385890"/>
            <a:ext cx="5955504" cy="51292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195263" y="0"/>
            <a:ext cx="12430126" cy="1257300"/>
          </a:xfrm>
          <a:prstGeom prst="rect">
            <a:avLst/>
          </a:prstGeom>
          <a:solidFill>
            <a:srgbClr val="0027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71435" y="271464"/>
            <a:ext cx="10515600" cy="842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Montserrat SemiBold" charset="0"/>
                <a:ea typeface="Montserrat SemiBold" charset="0"/>
                <a:cs typeface="Montserrat SemiBold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 descr="A blue background with yellow letter m and white text&#10;&#10;Description automatically generated">
            <a:extLst>
              <a:ext uri="{FF2B5EF4-FFF2-40B4-BE49-F238E27FC236}">
                <a16:creationId xmlns:a16="http://schemas.microsoft.com/office/drawing/2014/main" id="{500C8D6C-E6FC-9657-4418-57F1BE7F08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895" t="9023" r="7895" b="6047"/>
          <a:stretch/>
        </p:blipFill>
        <p:spPr>
          <a:xfrm>
            <a:off x="10653097" y="83707"/>
            <a:ext cx="1236369" cy="108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067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8110" y="157164"/>
            <a:ext cx="10515600" cy="8429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ue background with yellow letter m and white text&#10;&#10;Description automatically generated">
            <a:extLst>
              <a:ext uri="{FF2B5EF4-FFF2-40B4-BE49-F238E27FC236}">
                <a16:creationId xmlns:a16="http://schemas.microsoft.com/office/drawing/2014/main" id="{344D94B6-4AD1-D13B-D664-06E7EC6600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895" t="9023" r="7895" b="6047"/>
          <a:stretch/>
        </p:blipFill>
        <p:spPr>
          <a:xfrm>
            <a:off x="10653097" y="0"/>
            <a:ext cx="1236369" cy="1081825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-128588" y="-114300"/>
            <a:ext cx="12430126" cy="1257300"/>
          </a:xfrm>
          <a:prstGeom prst="rect">
            <a:avLst/>
          </a:prstGeom>
          <a:solidFill>
            <a:srgbClr val="0027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690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-4763"/>
            <a:ext cx="4986338" cy="68580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050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A blue background with yellow letter m and white text&#10;&#10;Description automatically generated">
            <a:extLst>
              <a:ext uri="{FF2B5EF4-FFF2-40B4-BE49-F238E27FC236}">
                <a16:creationId xmlns:a16="http://schemas.microsoft.com/office/drawing/2014/main" id="{50C12CD8-B477-D49C-4943-27839FF998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895" t="9023" r="7895" b="6047"/>
          <a:stretch/>
        </p:blipFill>
        <p:spPr>
          <a:xfrm>
            <a:off x="66664" y="5717862"/>
            <a:ext cx="1236369" cy="1081825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7050" y="2074862"/>
            <a:ext cx="3932237" cy="380365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8557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Headline Slide" userDrawn="1">
  <p:cSld name="Transition Headlin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4825A9F-CD8D-B8F9-D6E5-F8327D936A30}"/>
              </a:ext>
            </a:extLst>
          </p:cNvPr>
          <p:cNvSpPr/>
          <p:nvPr userDrawn="1"/>
        </p:nvSpPr>
        <p:spPr>
          <a:xfrm>
            <a:off x="-128588" y="-114300"/>
            <a:ext cx="12430126" cy="1257300"/>
          </a:xfrm>
          <a:prstGeom prst="rect">
            <a:avLst/>
          </a:prstGeom>
          <a:solidFill>
            <a:srgbClr val="0027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C4D8B9-D05B-3C7E-12C7-573C70094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337521"/>
            <a:ext cx="11387138" cy="52629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A blue background with yellow letter m and white text&#10;&#10;Description automatically generated">
            <a:extLst>
              <a:ext uri="{FF2B5EF4-FFF2-40B4-BE49-F238E27FC236}">
                <a16:creationId xmlns:a16="http://schemas.microsoft.com/office/drawing/2014/main" id="{D9F59590-E644-E793-DB89-A0D832DB12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895" t="9023" r="7895" b="6047"/>
          <a:stretch/>
        </p:blipFill>
        <p:spPr>
          <a:xfrm>
            <a:off x="10653097" y="0"/>
            <a:ext cx="1236369" cy="108182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E35643F-EB92-E9DA-3F74-D269CE331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0" y="157164"/>
            <a:ext cx="10515600" cy="8429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31283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774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93772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Montserrat SemiBold" charset="0"/>
          <a:ea typeface="Montserrat SemiBold" charset="0"/>
          <a:cs typeface="Montserrat SemiBold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200"/>
        </a:spcBef>
        <a:buClr>
          <a:srgbClr val="FFCB05"/>
        </a:buClr>
        <a:buFont typeface="Wingdings" panose="05000000000000000000" pitchFamily="2" charset="2"/>
        <a:buChar char="§"/>
        <a:defRPr sz="2800" b="0" i="0" kern="1200">
          <a:solidFill>
            <a:schemeClr val="tx1"/>
          </a:solidFill>
          <a:latin typeface="Montserrat" charset="0"/>
          <a:ea typeface="Montserrat" charset="0"/>
          <a:cs typeface="Montserrat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274C"/>
        </a:buClr>
        <a:buFont typeface="Wingdings" panose="05000000000000000000" pitchFamily="2" charset="2"/>
        <a:buChar char="§"/>
        <a:defRPr sz="2400" b="0" i="0" kern="1200">
          <a:solidFill>
            <a:schemeClr val="tx1"/>
          </a:solidFill>
          <a:latin typeface="Montserrat" charset="0"/>
          <a:ea typeface="Montserrat" charset="0"/>
          <a:cs typeface="Montserrat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FCB05"/>
        </a:buClr>
        <a:buFont typeface="Wingdings" panose="05000000000000000000" pitchFamily="2" charset="2"/>
        <a:buChar char="§"/>
        <a:defRPr sz="2000" b="0" i="0" kern="1200">
          <a:solidFill>
            <a:schemeClr val="tx1"/>
          </a:solidFill>
          <a:latin typeface="Montserrat" charset="0"/>
          <a:ea typeface="Montserrat" charset="0"/>
          <a:cs typeface="Montserrat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274C"/>
        </a:buClr>
        <a:buFont typeface="Wingdings" panose="05000000000000000000" pitchFamily="2" charset="2"/>
        <a:buChar char="§"/>
        <a:defRPr sz="1800" b="0" i="0" kern="1200">
          <a:solidFill>
            <a:schemeClr val="tx1"/>
          </a:solidFill>
          <a:latin typeface="Montserrat" charset="0"/>
          <a:ea typeface="Montserrat" charset="0"/>
          <a:cs typeface="Montserrat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b="0" i="0" kern="1200">
          <a:solidFill>
            <a:schemeClr val="tx1"/>
          </a:solidFill>
          <a:latin typeface="Montserrat" charset="0"/>
          <a:ea typeface="Montserrat" charset="0"/>
          <a:cs typeface="Montserra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0FF40B-B770-ABD8-5947-96A4B95F22C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[Project Title]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199B673-A3C0-E09B-0360-66AE8A36FE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[Project Team Members]</a:t>
            </a:r>
          </a:p>
        </p:txBody>
      </p:sp>
    </p:spTree>
    <p:extLst>
      <p:ext uri="{BB962C8B-B14F-4D97-AF65-F5344CB8AC3E}">
        <p14:creationId xmlns:p14="http://schemas.microsoft.com/office/powerpoint/2010/main" val="264453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06D3C8-FC01-6AAE-3A65-84BB6494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48CED23-0A88-69F2-76B0-4E84BC71A031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dirty="0"/>
              <a:t>[Short description of the project explaining the problem, current state, stakeholders, scope, and deliverables– may include pictures]</a:t>
            </a:r>
          </a:p>
          <a:p>
            <a:endParaRPr lang="en-US" dirty="0"/>
          </a:p>
          <a:p>
            <a:pPr marL="457200" indent="-457200">
              <a:buClr>
                <a:srgbClr val="FFCB05"/>
              </a:buCl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B0D45B-622A-1F7B-0F92-98C155A7C0E7}"/>
              </a:ext>
            </a:extLst>
          </p:cNvPr>
          <p:cNvSpPr txBox="1">
            <a:spLocks/>
          </p:cNvSpPr>
          <p:nvPr/>
        </p:nvSpPr>
        <p:spPr>
          <a:xfrm>
            <a:off x="11460163" y="6218238"/>
            <a:ext cx="731837" cy="5238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000000-1234-1234-1234-123412341234}" type="slidenum">
              <a:rPr lang="en" smtClean="0"/>
              <a:pPr/>
              <a:t>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7828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F6E9AE-EC59-AAD3-A628-04F47C828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34CF33B-0640-39B3-8D85-87312C936012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dirty="0"/>
              <a:t>[Overview of the methodology and approach learned during your program that will be applied to solve the problem]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70F4B-EEC8-183F-E4D9-FE282BF46A8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60163" y="6218238"/>
            <a:ext cx="731837" cy="523875"/>
          </a:xfrm>
          <a:prstGeom prst="rect">
            <a:avLst/>
          </a:prstGeom>
        </p:spPr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90297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F6E9AE-EC59-AAD3-A628-04F47C828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Results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34CF33B-0640-39B3-8D85-87312C936012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dirty="0"/>
              <a:t>[Include current status of the project, preliminary results, and estimated benefits (if available at this time)]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70F4B-EEC8-183F-E4D9-FE282BF46A8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60163" y="6218238"/>
            <a:ext cx="731837" cy="523875"/>
          </a:xfrm>
          <a:prstGeom prst="rect">
            <a:avLst/>
          </a:prstGeom>
        </p:spPr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14688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5">
            <a:extLst>
              <a:ext uri="{FF2B5EF4-FFF2-40B4-BE49-F238E27FC236}">
                <a16:creationId xmlns:a16="http://schemas.microsoft.com/office/drawing/2014/main" id="{F53104A9-9D56-579D-53B7-D67C6EEEF50C}"/>
              </a:ext>
            </a:extLst>
          </p:cNvPr>
          <p:cNvSpPr txBox="1">
            <a:spLocks/>
          </p:cNvSpPr>
          <p:nvPr/>
        </p:nvSpPr>
        <p:spPr>
          <a:xfrm>
            <a:off x="3605888" y="1455514"/>
            <a:ext cx="4980223" cy="8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400"/>
              <a:buFont typeface="Roboto"/>
              <a:buNone/>
              <a:defRPr sz="3200" b="1" i="0" u="none" strike="noStrike" cap="none">
                <a:solidFill>
                  <a:srgbClr val="F1C23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400" kern="0" dirty="0"/>
              <a:t>EXAMPLE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0FF40B-B770-ABD8-5947-96A4B95F22C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Optimizing Workflow and Efficiency in General Assembly 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199B673-A3C0-E09B-0360-66AE8A36F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5200" y="3767138"/>
            <a:ext cx="9654800" cy="878400"/>
          </a:xfrm>
        </p:spPr>
        <p:txBody>
          <a:bodyPr/>
          <a:lstStyle/>
          <a:p>
            <a:r>
              <a:rPr lang="en-US" dirty="0"/>
              <a:t>Student Name</a:t>
            </a:r>
          </a:p>
        </p:txBody>
      </p:sp>
    </p:spTree>
    <p:extLst>
      <p:ext uri="{BB962C8B-B14F-4D97-AF65-F5344CB8AC3E}">
        <p14:creationId xmlns:p14="http://schemas.microsoft.com/office/powerpoint/2010/main" val="1907624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06D3C8-FC01-6AAE-3A65-84BB6494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 - Example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48CED23-0A88-69F2-76B0-4E84BC71A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337521"/>
            <a:ext cx="11506933" cy="526297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457200" indent="-457200">
              <a:buClr>
                <a:srgbClr val="FFCB05"/>
              </a:buClr>
              <a:buFont typeface="Wingdings" panose="05000000000000000000" pitchFamily="2" charset="2"/>
              <a:buChar char="§"/>
            </a:pPr>
            <a:r>
              <a:rPr lang="en-US" dirty="0"/>
              <a:t>Enhance efficiency of the General Assembly lines</a:t>
            </a:r>
          </a:p>
          <a:p>
            <a:pPr marL="914400" lvl="1" indent="-457200">
              <a:buClr>
                <a:srgbClr val="FFCB05"/>
              </a:buClr>
            </a:pPr>
            <a:r>
              <a:rPr lang="en-US" dirty="0"/>
              <a:t>Maximize productivity</a:t>
            </a:r>
          </a:p>
          <a:p>
            <a:pPr marL="914400" lvl="1" indent="-457200">
              <a:buClr>
                <a:srgbClr val="FFCB05"/>
              </a:buClr>
            </a:pPr>
            <a:r>
              <a:rPr lang="en-US" dirty="0"/>
              <a:t>Ensure seamless operations</a:t>
            </a:r>
          </a:p>
          <a:p>
            <a:pPr marL="914400" lvl="1" indent="-457200">
              <a:buClr>
                <a:srgbClr val="FFCB05"/>
              </a:buClr>
            </a:pPr>
            <a:r>
              <a:rPr lang="en-US" dirty="0"/>
              <a:t>Improve throughput</a:t>
            </a:r>
          </a:p>
          <a:p>
            <a:pPr marL="914400" lvl="1" indent="-457200">
              <a:buClr>
                <a:srgbClr val="FFCB05"/>
              </a:buClr>
            </a:pPr>
            <a:r>
              <a:rPr lang="en-US" dirty="0"/>
              <a:t>Improve customer satisfaction</a:t>
            </a:r>
          </a:p>
          <a:p>
            <a:pPr marL="457200" indent="-457200">
              <a:buClr>
                <a:srgbClr val="FFCB05"/>
              </a:buClr>
              <a:buFont typeface="Wingdings" panose="05000000000000000000" pitchFamily="2" charset="2"/>
              <a:buChar char="§"/>
            </a:pPr>
            <a:r>
              <a:rPr lang="en-US" dirty="0"/>
              <a:t>Currently assembly line design is </a:t>
            </a:r>
            <a:br>
              <a:rPr lang="en-US" dirty="0"/>
            </a:br>
            <a:r>
              <a:rPr lang="en-US" dirty="0"/>
              <a:t>creating uneven workload distribution</a:t>
            </a:r>
          </a:p>
          <a:p>
            <a:pPr marL="914400" lvl="1" indent="-457200">
              <a:buClr>
                <a:srgbClr val="FFCB05"/>
              </a:buClr>
            </a:pPr>
            <a:r>
              <a:rPr lang="en-US" dirty="0"/>
              <a:t>Target rebalancing of workstations to reduce cycle times and align to takt time of 240 seconds</a:t>
            </a:r>
          </a:p>
          <a:p>
            <a:pPr marL="457200" indent="-457200"/>
            <a:r>
              <a:rPr lang="en-US" dirty="0"/>
              <a:t>Internal stakeholders: management, line workers, process engineers, operations engineers</a:t>
            </a:r>
          </a:p>
          <a:p>
            <a:pPr marL="457200" indent="-457200"/>
            <a:r>
              <a:rPr lang="en-US" dirty="0"/>
              <a:t>External stakeholders: customers and shareholders/investors</a:t>
            </a:r>
          </a:p>
        </p:txBody>
      </p:sp>
      <p:pic>
        <p:nvPicPr>
          <p:cNvPr id="2" name="Picture 1" descr="Rivian Confident in Demand for R1T and R1S, Accelerates Production and  Cost-Cutting Measures - Drive Tesla">
            <a:extLst>
              <a:ext uri="{FF2B5EF4-FFF2-40B4-BE49-F238E27FC236}">
                <a16:creationId xmlns:a16="http://schemas.microsoft.com/office/drawing/2014/main" id="{EF60E0D7-9B94-FD68-648C-E9D7F7F2E7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609" y="2044403"/>
            <a:ext cx="3276134" cy="184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F8055B23-345D-CA29-8699-AA27CCE815F1}"/>
              </a:ext>
            </a:extLst>
          </p:cNvPr>
          <p:cNvSpPr txBox="1">
            <a:spLocks/>
          </p:cNvSpPr>
          <p:nvPr/>
        </p:nvSpPr>
        <p:spPr>
          <a:xfrm>
            <a:off x="11460163" y="6218238"/>
            <a:ext cx="731837" cy="5238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000000-1234-1234-1234-123412341234}" type="slidenum">
              <a:rPr lang="en" smtClean="0"/>
              <a:pPr/>
              <a:t>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04690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F6E9AE-EC59-AAD3-A628-04F47C828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Scope and Deliverables - Example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34CF33B-0640-39B3-8D85-87312C936012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b="1" dirty="0"/>
              <a:t>Scope</a:t>
            </a:r>
          </a:p>
          <a:p>
            <a:pPr lvl="1"/>
            <a:r>
              <a:rPr lang="en-US" dirty="0"/>
              <a:t>Rebalancing of all workstations within the General Assembly lines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Deliverables</a:t>
            </a:r>
          </a:p>
          <a:p>
            <a:pPr lvl="1"/>
            <a:r>
              <a:rPr lang="en-US" dirty="0"/>
              <a:t>Balanced Line Layout Proposal</a:t>
            </a:r>
          </a:p>
          <a:p>
            <a:pPr lvl="1"/>
            <a:r>
              <a:rPr lang="en-US" dirty="0"/>
              <a:t>Validated Trial Plan for Implementation</a:t>
            </a:r>
          </a:p>
          <a:p>
            <a:pPr lvl="1"/>
            <a:r>
              <a:rPr lang="en-US" dirty="0"/>
              <a:t>Comprehensive Project Report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70F4B-EEC8-183F-E4D9-FE282BF46A8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60163" y="6218238"/>
            <a:ext cx="731837" cy="523875"/>
          </a:xfrm>
          <a:prstGeom prst="rect">
            <a:avLst/>
          </a:prstGeom>
        </p:spPr>
        <p:txBody>
          <a:bodyPr/>
          <a:lstStyle/>
          <a:p>
            <a:fld id="{00000000-1234-1234-1234-123412341234}" type="slidenum">
              <a:rPr lang="en" smtClean="0"/>
              <a:pPr/>
              <a:t>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71185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F6E9AE-EC59-AAD3-A628-04F47C828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- Example</a:t>
            </a:r>
          </a:p>
        </p:txBody>
      </p:sp>
      <p:graphicFrame>
        <p:nvGraphicFramePr>
          <p:cNvPr id="5" name="Diagram 4" descr="DMAIC image showing Define, Measure, Analyze, Improve, and Control phases each in an arrow flowing into the next phase.">
            <a:extLst>
              <a:ext uri="{FF2B5EF4-FFF2-40B4-BE49-F238E27FC236}">
                <a16:creationId xmlns:a16="http://schemas.microsoft.com/office/drawing/2014/main" id="{512E0B96-AF8E-5DFA-34DA-FC322116D6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5887847"/>
              </p:ext>
            </p:extLst>
          </p:nvPr>
        </p:nvGraphicFramePr>
        <p:xfrm>
          <a:off x="1458657" y="1337521"/>
          <a:ext cx="9274687" cy="103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ubtitle 3">
            <a:extLst>
              <a:ext uri="{FF2B5EF4-FFF2-40B4-BE49-F238E27FC236}">
                <a16:creationId xmlns:a16="http://schemas.microsoft.com/office/drawing/2014/main" id="{C34CF33B-0640-39B3-8D85-87312C936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2374159"/>
            <a:ext cx="11387138" cy="422633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Video Recording Time Studies</a:t>
            </a:r>
          </a:p>
          <a:p>
            <a:r>
              <a:rPr lang="en-US" dirty="0"/>
              <a:t>MODAPTS Time Studies</a:t>
            </a:r>
          </a:p>
          <a:p>
            <a:r>
              <a:rPr lang="en-US" dirty="0"/>
              <a:t>YAMAZUMI Rebalancing Charts</a:t>
            </a:r>
          </a:p>
          <a:p>
            <a:r>
              <a:rPr lang="en-US" dirty="0"/>
              <a:t>Pilot Trials for Improvement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70F4B-EEC8-183F-E4D9-FE282BF46A8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60163" y="6218238"/>
            <a:ext cx="731837" cy="523875"/>
          </a:xfrm>
          <a:prstGeom prst="rect">
            <a:avLst/>
          </a:prstGeom>
        </p:spPr>
        <p:txBody>
          <a:bodyPr/>
          <a:lstStyle/>
          <a:p>
            <a:fld id="{00000000-1234-1234-1234-123412341234}" type="slidenum">
              <a:rPr lang="en" smtClean="0"/>
              <a:pPr/>
              <a:t>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3987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F6E9AE-EC59-AAD3-A628-04F47C828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Results - Example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34CF33B-0640-39B3-8D85-87312C936012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dirty="0"/>
              <a:t>Trim 3 General Assembly Rebalance</a:t>
            </a:r>
          </a:p>
          <a:p>
            <a:pPr lvl="1"/>
            <a:r>
              <a:rPr lang="en-US" dirty="0"/>
              <a:t>Shift operations from 40LS to 30LS</a:t>
            </a:r>
          </a:p>
          <a:p>
            <a:pPr lvl="1"/>
            <a:r>
              <a:rPr lang="en-US" dirty="0"/>
              <a:t>Reallocate operations at 70LS</a:t>
            </a:r>
          </a:p>
          <a:p>
            <a:pPr lvl="1"/>
            <a:r>
              <a:rPr lang="en-US" dirty="0"/>
              <a:t>Shift operation from 90RF to 80RS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Trim 3 Headcount Reduction</a:t>
            </a:r>
          </a:p>
          <a:p>
            <a:pPr lvl="1"/>
            <a:r>
              <a:rPr lang="en-US" dirty="0"/>
              <a:t>$200,000 cost savings</a:t>
            </a:r>
          </a:p>
          <a:p>
            <a:endParaRPr lang="en-US" dirty="0"/>
          </a:p>
        </p:txBody>
      </p:sp>
      <p:pic>
        <p:nvPicPr>
          <p:cNvPr id="6" name="Picture 5" descr="Bar chart of average station times with those above takt time circled in red">
            <a:extLst>
              <a:ext uri="{FF2B5EF4-FFF2-40B4-BE49-F238E27FC236}">
                <a16:creationId xmlns:a16="http://schemas.microsoft.com/office/drawing/2014/main" id="{9DD91834-EB3A-B0D2-3F38-DC5CBEE58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998" y="2077450"/>
            <a:ext cx="5073850" cy="2002149"/>
          </a:xfrm>
          <a:prstGeom prst="rect">
            <a:avLst/>
          </a:prstGeom>
        </p:spPr>
      </p:pic>
      <p:pic>
        <p:nvPicPr>
          <p:cNvPr id="8" name="Picture 7" descr="Decomposition of station process time into value added, business value added, and non-value added time formatted as a bar chart with color coded stacked bars.">
            <a:extLst>
              <a:ext uri="{FF2B5EF4-FFF2-40B4-BE49-F238E27FC236}">
                <a16:creationId xmlns:a16="http://schemas.microsoft.com/office/drawing/2014/main" id="{6E5F2B23-91D0-BC92-99CE-414A3954A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998" y="4507563"/>
            <a:ext cx="5073850" cy="168019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70F4B-EEC8-183F-E4D9-FE282BF46A8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60163" y="6218238"/>
            <a:ext cx="731837" cy="523875"/>
          </a:xfrm>
          <a:prstGeom prst="rect">
            <a:avLst/>
          </a:prstGeom>
        </p:spPr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75485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F6E9AE-EC59-AAD3-A628-04F47C828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Benefits - Example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34CF33B-0640-39B3-8D85-87312C936012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Increased Efficiency</a:t>
            </a:r>
          </a:p>
          <a:p>
            <a:pPr lvl="1"/>
            <a:r>
              <a:rPr lang="en-US" dirty="0"/>
              <a:t>Reduced bottlenecks and delays</a:t>
            </a:r>
          </a:p>
          <a:p>
            <a:pPr lvl="1"/>
            <a:r>
              <a:rPr lang="en-US" dirty="0"/>
              <a:t>30LS cycle time reduction of 23%</a:t>
            </a:r>
          </a:p>
          <a:p>
            <a:pPr lvl="1"/>
            <a:r>
              <a:rPr lang="en-US" dirty="0"/>
              <a:t>40LS cycle time reduction of 19%</a:t>
            </a:r>
          </a:p>
          <a:p>
            <a:pPr marL="0" indent="0">
              <a:buNone/>
            </a:pPr>
            <a:r>
              <a:rPr lang="en-US" dirty="0"/>
              <a:t>Headcount Reduction Cost Savings: $200,000</a:t>
            </a:r>
          </a:p>
          <a:p>
            <a:pPr marL="0" indent="0">
              <a:buNone/>
            </a:pPr>
            <a:r>
              <a:rPr lang="en-US" dirty="0"/>
              <a:t>Other Benefits</a:t>
            </a:r>
          </a:p>
          <a:p>
            <a:pPr lvl="1"/>
            <a:r>
              <a:rPr lang="en-US" dirty="0"/>
              <a:t>Improved throughput</a:t>
            </a:r>
          </a:p>
          <a:p>
            <a:pPr lvl="2"/>
            <a:r>
              <a:rPr lang="en-US" dirty="0"/>
              <a:t>Ability to meet production demands by adjusting process time to takt</a:t>
            </a:r>
          </a:p>
          <a:p>
            <a:pPr lvl="1"/>
            <a:r>
              <a:rPr lang="en-US" dirty="0"/>
              <a:t>Streamlined Material Flow</a:t>
            </a:r>
          </a:p>
          <a:p>
            <a:pPr lvl="1"/>
            <a:r>
              <a:rPr lang="en-US" dirty="0"/>
              <a:t>Enhanced Customer Satisfaction</a:t>
            </a:r>
          </a:p>
          <a:p>
            <a:pPr lvl="1"/>
            <a:r>
              <a:rPr lang="en-US" dirty="0"/>
              <a:t>Investor Confidence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70F4B-EEC8-183F-E4D9-FE282BF46A8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60163" y="6218238"/>
            <a:ext cx="731837" cy="523875"/>
          </a:xfrm>
          <a:prstGeom prst="rect">
            <a:avLst/>
          </a:prstGeom>
        </p:spPr>
        <p:txBody>
          <a:bodyPr/>
          <a:lstStyle/>
          <a:p>
            <a:fld id="{00000000-1234-1234-1234-123412341234}" type="slidenum">
              <a:rPr lang="en" smtClean="0"/>
              <a:pPr/>
              <a:t>10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61257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 Department PP Template 2020" id="{035A76D8-6089-9B4C-AD63-BEC94CDD614B}" vid="{D05B200F-3AD7-8645-9AEC-43ADAB3328D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503 Project Presentation Template-v25</Template>
  <TotalTime>93</TotalTime>
  <Words>303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Montserrat</vt:lpstr>
      <vt:lpstr>Montserrat SemiBold</vt:lpstr>
      <vt:lpstr>Roboto</vt:lpstr>
      <vt:lpstr>Wingdings</vt:lpstr>
      <vt:lpstr>Office Theme</vt:lpstr>
      <vt:lpstr>[Project Title]</vt:lpstr>
      <vt:lpstr>Project Overview</vt:lpstr>
      <vt:lpstr>Methodology</vt:lpstr>
      <vt:lpstr>Preliminary Results</vt:lpstr>
      <vt:lpstr>Optimizing Workflow and Efficiency in General Assembly </vt:lpstr>
      <vt:lpstr>Project Overview - Example</vt:lpstr>
      <vt:lpstr>Project Scope and Deliverables - Example</vt:lpstr>
      <vt:lpstr>Methodology - Example</vt:lpstr>
      <vt:lpstr>Preliminary Results - Example</vt:lpstr>
      <vt:lpstr>Project Benefits -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Presentation Template</dc:title>
  <dc:creator>Friedberg, Nicole</dc:creator>
  <cp:lastModifiedBy>Friedberg, Nicole</cp:lastModifiedBy>
  <cp:revision>14</cp:revision>
  <dcterms:created xsi:type="dcterms:W3CDTF">2024-12-03T18:39:46Z</dcterms:created>
  <dcterms:modified xsi:type="dcterms:W3CDTF">2025-09-18T16:39:23Z</dcterms:modified>
</cp:coreProperties>
</file>